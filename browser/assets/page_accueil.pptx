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724" autoAdjust="0"/>
    <p:restoredTop sz="94660"/>
  </p:normalViewPr>
  <p:slideViewPr>
    <p:cSldViewPr snapToGrid="0">
      <p:cViewPr varScale="1">
        <p:scale>
          <a:sx n="93" d="100"/>
          <a:sy n="93" d="100"/>
        </p:scale>
        <p:origin x="39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4AD19-164B-460A-B2B5-7C9DBFE1CAF6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0139A-6874-48B7-AB58-B57D4F7899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058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9D71B8-BD64-7FEB-D635-BA06043CE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96A7BE-D99E-31D8-1D12-7E2AA620C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0CF05F-7397-A95E-1847-0E63662F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EC6A-02ED-4894-9C45-D0AF6C307F15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84588B-D55A-52A0-AE89-0051A88C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2C9C6B-522D-BDC8-3604-257549FB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3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C418B-5860-3540-B780-73C3E768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53CC1-2721-3E2B-07AA-39187B23F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C8DE0C-92D0-93C3-DEF4-B219429F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AC38-60C0-4CFD-9EF3-A72D717DB641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FE7C45-3D3C-E667-E855-A406DF3B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10821F-8B13-5A6C-2819-DD77E6D6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56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B02150-8DB3-94B1-AEE8-BD0845DF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CDBF7C-3F62-9DE0-CF87-D6C1A33F5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1DF0AF-5C88-55B0-F3A1-37C2DC008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6CA0-DAEF-47F2-8D9F-2502150DA790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A6E9CD-7694-1651-0A7A-45D1D0DD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F6C664-673B-AB03-C4F7-A94D4B3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36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C3EDE-8EB9-A02B-AB69-7B6D8D3D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F1C8BD-7046-F69F-3C81-9D37133D6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F61705-41C7-CB40-267D-98E9A54A5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9040E8-DD69-C9ED-EDFA-5A2E52B4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12598-B19F-4BD8-BED0-203814F9F9CA}" type="datetime1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7EB54C-F734-9F58-B25C-30ED92D6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27D8D6-B81B-CEBD-3DCA-FF6EE60A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62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35878-EE00-8DBD-1575-ADC9D0F6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DC91ED-7481-7E24-F703-67DFAD5D4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6C624C-4205-34C4-DF07-676978DBD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54ABD8E-7645-CF95-CED4-AD46FA401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554B6F-124A-CE7D-848D-8FE095A4A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7F1B71A-19B4-43D7-3F09-BD1841BC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FDAB-BC1E-41AF-A6A4-15680B614E42}" type="datetime1">
              <a:rPr lang="fr-FR" smtClean="0"/>
              <a:t>02/01/2026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CC73A1-58D3-25B0-7DED-0F1F9F7F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872841-B0BE-50B9-4218-C80872C7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66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609CC-E5E6-91E8-827F-4052874A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BF262E-26B7-C2A7-A38A-904DF1CE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C9BB-FC03-42BC-B516-2C3D67B57882}" type="datetime1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B5AD6B-C6E2-D923-D540-F82EB60C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1C28C4-3080-6E8F-10D7-E6EAE850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20AD1A1-BCC3-54B0-AEFD-C4235163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597A-705E-4D7A-8EF5-AF5F52D4663E}" type="datetime1">
              <a:rPr lang="fr-FR" smtClean="0"/>
              <a:t>02/01/2026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D46481-B47A-6CFB-2AEE-5D8D6578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1925BF-AC61-0F31-9098-A17C50A8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57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C1B2A-2562-EDC5-FFF2-7001D42F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6AAFC7-9268-20CA-6EA8-0A0F1CB1A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289D11-D652-0857-4765-B29F571F3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1D27F8-4F7F-14C7-CEA1-BA2C55D1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F491-11B5-4A1D-9E77-0D6F69A234C8}" type="datetime1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9F915A-4ECE-20F9-85A2-DD03FC9C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1FC5EE-6AEE-3B8B-58AE-A9252065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611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054ED6-7E5A-ABBD-D750-C6DB0BA9C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70A50DE-E657-2453-43AB-BDDD79F7F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B3306E-1AFA-AC9D-EA06-CA6BD62D9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D80647-650D-AEA5-30C4-8F7DB49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3E70-2FA8-4047-9C1F-E35F068BCC6F}" type="datetime1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0CD4CF-C873-1484-F43A-840B2D14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EDCD8B-10D6-2E26-93D9-52EF96C2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44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8C1485-2175-811B-2F50-8381F9DD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E93ACF-1864-BE37-72AB-5DC55E351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26FF6B-4039-55C2-E2F6-BD0212B5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7573-21C8-4250-8F90-8B16D248979D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A1DA7D-6ACB-10BA-DC1B-0155EA1C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0DB9FC-8C36-F399-9FD8-FC05CF2F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78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394074F-5784-4023-AE04-D30B9629E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E370DE-64C0-95E5-B69B-81E924487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57646F-BE04-CE30-36DC-830229CE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E6E58-6939-4573-9062-CF6EC5DB2E3E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57957B-C875-18D8-B915-A1446149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CE5B9F-0132-B0C7-AB9A-A99EA6EC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98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AF634A-4504-6958-A819-9C734299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E24518-CB59-CFE6-8038-D228D1463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27FC23-D73E-D3D1-A377-13B4680AE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2E9F5-3B6A-46D4-9963-12E5186BE5BB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C20469-D04F-6E35-50E7-954F2892C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Nabil BELCAID - nabil.belcaid@nasylya.com - 06 21 712 712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813FB7-48F7-272B-2827-B8467B088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8549F-ACE7-483F-A425-F60A4869C6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48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992AA91-93D1-B673-F237-9E313FD94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La plateforme intelligente de création, diffusion et analyse de questionnaires en ligne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6BEBE-3351-EFCE-86AD-90536229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8549F-ACE7-483F-A425-F60A4869C66C}" type="slidenum">
              <a:rPr lang="fr-FR" smtClean="0"/>
              <a:t>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BC9A0F-C577-9D95-46E9-9D6843F9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9331" y="6356350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  <p:pic>
        <p:nvPicPr>
          <p:cNvPr id="9" name="Image 8" descr="Une image contenant Police, logo, Graphique, texte&#10;&#10;Le contenu généré par l’IA peut être incorrect.">
            <a:extLst>
              <a:ext uri="{FF2B5EF4-FFF2-40B4-BE49-F238E27FC236}">
                <a16:creationId xmlns:a16="http://schemas.microsoft.com/office/drawing/2014/main" id="{BC2ECDC9-D389-75D0-213A-C28923FC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18" y="778916"/>
            <a:ext cx="8625375" cy="227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8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37D451-4946-521B-3AFA-93B6AA3A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d’ensemble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2BA1BF-9684-60C7-8EDA-EA6A84FCF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997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400" dirty="0" err="1"/>
              <a:t>QuaeroQuesto</a:t>
            </a:r>
            <a:r>
              <a:rPr lang="fr-FR" sz="2400" dirty="0"/>
              <a:t> est une application web de nouvelle génération dédiée à la conception, la diffusion et l’exploitation de questionnaires en ligne.</a:t>
            </a:r>
          </a:p>
          <a:p>
            <a:pPr marL="0" indent="0" algn="just">
              <a:buNone/>
            </a:pPr>
            <a:r>
              <a:rPr lang="fr-FR" sz="2400" dirty="0"/>
              <a:t>Conçue pour allier simplicité d’utilisation, puissance analytique et intégration avancée de l’intelligence artificielle, elle permet aux entreprises, chercheurs et institutions d’obtenir rapidement des insights fiables et exploitables.</a:t>
            </a:r>
          </a:p>
          <a:p>
            <a:pPr algn="just"/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5E0B5E-9A10-F7F4-0278-E78FD36F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9241" y="6363175"/>
            <a:ext cx="2743200" cy="365125"/>
          </a:xfrm>
        </p:spPr>
        <p:txBody>
          <a:bodyPr/>
          <a:lstStyle/>
          <a:p>
            <a:fld id="{C388549F-ACE7-483F-A425-F60A4869C66C}" type="slidenum">
              <a:rPr lang="fr-FR" smtClean="0"/>
              <a:t>2</a:t>
            </a:fld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5AECF01-BFE9-D7C1-AB77-FF4D585DD5B4}"/>
              </a:ext>
            </a:extLst>
          </p:cNvPr>
          <p:cNvSpPr txBox="1">
            <a:spLocks/>
          </p:cNvSpPr>
          <p:nvPr/>
        </p:nvSpPr>
        <p:spPr>
          <a:xfrm>
            <a:off x="838200" y="3949320"/>
            <a:ext cx="4820478" cy="249979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fr-FR" sz="1400" i="1" dirty="0"/>
              <a:t>Socle technologique 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400" i="1" dirty="0"/>
              <a:t>Backend : Python 3.13, </a:t>
            </a:r>
            <a:r>
              <a:rPr lang="fr-FR" sz="1400" i="1" dirty="0" err="1"/>
              <a:t>FastAPI</a:t>
            </a:r>
            <a:r>
              <a:rPr lang="fr-FR" sz="1400" i="1" dirty="0"/>
              <a:t> 0.115.6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400" i="1" dirty="0"/>
              <a:t>Base de données : PostgreSQL 17.0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400" i="1" dirty="0"/>
              <a:t>Frontend : </a:t>
            </a:r>
            <a:r>
              <a:rPr lang="fr-FR" sz="1400" i="1" dirty="0" err="1"/>
              <a:t>Angular</a:t>
            </a:r>
            <a:r>
              <a:rPr lang="fr-FR" sz="1400" i="1" dirty="0"/>
              <a:t> 20.3.0, </a:t>
            </a:r>
            <a:r>
              <a:rPr lang="fr-FR" sz="1400" i="1" dirty="0" err="1"/>
              <a:t>TypeScript</a:t>
            </a:r>
            <a:r>
              <a:rPr lang="fr-FR" sz="1400" i="1" dirty="0"/>
              <a:t> 5.9.2, </a:t>
            </a:r>
            <a:r>
              <a:rPr lang="fr-FR" sz="1400" i="1" dirty="0" err="1"/>
              <a:t>Angular</a:t>
            </a:r>
            <a:r>
              <a:rPr lang="fr-FR" sz="1400" i="1" dirty="0"/>
              <a:t> </a:t>
            </a:r>
            <a:r>
              <a:rPr lang="fr-FR" sz="1400" i="1" dirty="0" err="1"/>
              <a:t>Material</a:t>
            </a:r>
            <a:r>
              <a:rPr lang="fr-FR" sz="1400" i="1" dirty="0"/>
              <a:t> 20.2.3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400" i="1" dirty="0"/>
              <a:t>Data &amp; Analyse : Pandas, </a:t>
            </a:r>
            <a:r>
              <a:rPr lang="fr-FR" sz="1400" i="1" dirty="0" err="1"/>
              <a:t>NumPy</a:t>
            </a:r>
            <a:r>
              <a:rPr lang="fr-FR" sz="1400" i="1" dirty="0"/>
              <a:t>, </a:t>
            </a:r>
            <a:r>
              <a:rPr lang="fr-FR" sz="1400" i="1" dirty="0" err="1"/>
              <a:t>Matplotlib</a:t>
            </a:r>
            <a:r>
              <a:rPr lang="fr-FR" sz="1400" i="1" dirty="0"/>
              <a:t>, </a:t>
            </a:r>
            <a:r>
              <a:rPr lang="fr-FR" sz="1400" i="1" dirty="0" err="1"/>
              <a:t>Seaborn</a:t>
            </a:r>
            <a:r>
              <a:rPr lang="fr-FR" sz="1400" i="1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400" i="1" dirty="0"/>
              <a:t>Intelligence Artificielle : Intégration de modèles de langage et d’analyse sémantique (GPT-40, GPT-5, LLAMA3, MISTRAL7B).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400" i="1" dirty="0"/>
              <a:t>Algorithmes maison de détection de biais, segmentation comportementale et rédaction automatisée.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fr-FR" sz="1400" i="1" dirty="0"/>
          </a:p>
          <a:p>
            <a:pPr algn="just"/>
            <a:endParaRPr lang="fr-FR" sz="1400" i="1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0493714-98AE-20C9-4575-B6C3AA106B16}"/>
              </a:ext>
            </a:extLst>
          </p:cNvPr>
          <p:cNvSpPr txBox="1">
            <a:spLocks/>
          </p:cNvSpPr>
          <p:nvPr/>
        </p:nvSpPr>
        <p:spPr>
          <a:xfrm>
            <a:off x="5835724" y="3949319"/>
            <a:ext cx="3560068" cy="249979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i="1" dirty="0"/>
              <a:t>Cas d’usage typiques</a:t>
            </a:r>
          </a:p>
          <a:p>
            <a:r>
              <a:rPr lang="fr-FR" sz="1400" i="1" dirty="0"/>
              <a:t>Enquêtes de satisfaction interne ou client.</a:t>
            </a:r>
          </a:p>
          <a:p>
            <a:r>
              <a:rPr lang="fr-FR" sz="1400" i="1" dirty="0"/>
              <a:t>Études de marché et tests de concept.</a:t>
            </a:r>
          </a:p>
          <a:p>
            <a:r>
              <a:rPr lang="fr-FR" sz="1400" i="1" dirty="0"/>
              <a:t>Évaluations RH et sondages d’engagement.</a:t>
            </a:r>
          </a:p>
          <a:p>
            <a:r>
              <a:rPr lang="fr-FR" sz="1400" i="1" dirty="0"/>
              <a:t>Baromètres d’opinion, diagnostics organisationnels, etc.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fr-FR" sz="1400" i="1" dirty="0"/>
          </a:p>
          <a:p>
            <a:pPr algn="just"/>
            <a:endParaRPr lang="fr-FR" sz="1400" i="1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0CC73F8-5123-5767-AED4-7C2687500AE6}"/>
              </a:ext>
            </a:extLst>
          </p:cNvPr>
          <p:cNvSpPr txBox="1">
            <a:spLocks/>
          </p:cNvSpPr>
          <p:nvPr/>
        </p:nvSpPr>
        <p:spPr>
          <a:xfrm>
            <a:off x="9721065" y="3949319"/>
            <a:ext cx="1919554" cy="2340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400" i="1" dirty="0"/>
              <a:t>Etat d’avancement des développements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756ED2C-17BF-D814-257D-B26EB019EAF3}"/>
              </a:ext>
            </a:extLst>
          </p:cNvPr>
          <p:cNvSpPr/>
          <p:nvPr/>
        </p:nvSpPr>
        <p:spPr>
          <a:xfrm>
            <a:off x="9810536" y="4553121"/>
            <a:ext cx="1740611" cy="179797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65%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059F7AC-7F2F-1721-CB2A-940E859F2AAD}"/>
              </a:ext>
            </a:extLst>
          </p:cNvPr>
          <p:cNvCxnSpPr>
            <a:cxnSpLocks/>
          </p:cNvCxnSpPr>
          <p:nvPr/>
        </p:nvCxnSpPr>
        <p:spPr>
          <a:xfrm>
            <a:off x="5671336" y="3863380"/>
            <a:ext cx="0" cy="25142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4A126F0-EB4F-2959-A2C0-F12526A6B761}"/>
              </a:ext>
            </a:extLst>
          </p:cNvPr>
          <p:cNvCxnSpPr>
            <a:cxnSpLocks/>
          </p:cNvCxnSpPr>
          <p:nvPr/>
        </p:nvCxnSpPr>
        <p:spPr>
          <a:xfrm>
            <a:off x="9395792" y="3863380"/>
            <a:ext cx="0" cy="25142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E14F6A9-328D-975A-3973-8C799501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46752" y="6363175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</p:spTree>
    <p:extLst>
      <p:ext uri="{BB962C8B-B14F-4D97-AF65-F5344CB8AC3E}">
        <p14:creationId xmlns:p14="http://schemas.microsoft.com/office/powerpoint/2010/main" val="126898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0731-DE7F-CFB1-792B-CAF9236D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AD0378-061D-3C86-271D-465B05DC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30" y="365125"/>
            <a:ext cx="11490789" cy="1325563"/>
          </a:xfrm>
        </p:spPr>
        <p:txBody>
          <a:bodyPr>
            <a:normAutofit/>
          </a:bodyPr>
          <a:lstStyle/>
          <a:p>
            <a:r>
              <a:rPr lang="fr-FR" sz="3200" dirty="0"/>
              <a:t>Module 1 : Création de questionnaires intuitive et assistée par 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81281D-BC98-6BC0-5234-D8265FF27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32" y="1846173"/>
            <a:ext cx="4288604" cy="4351338"/>
          </a:xfrm>
        </p:spPr>
        <p:txBody>
          <a:bodyPr/>
          <a:lstStyle/>
          <a:p>
            <a:pPr marL="0" indent="0">
              <a:buNone/>
            </a:pPr>
            <a:r>
              <a:rPr lang="fr-FR" sz="1800" dirty="0"/>
              <a:t>Fonctionnalités principales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Interface de conception fluide, multilingue et responsive.</a:t>
            </a:r>
          </a:p>
          <a:p>
            <a:pPr lvl="1"/>
            <a:r>
              <a:rPr lang="fr-FR" sz="1600" dirty="0"/>
              <a:t>Large choix de types de questions : textes, échelles, choix multiples, matrices.</a:t>
            </a:r>
          </a:p>
          <a:p>
            <a:pPr lvl="1"/>
            <a:r>
              <a:rPr lang="fr-FR" sz="1600" dirty="0"/>
              <a:t>Gestion avancée des liens et dépendances entre questions.</a:t>
            </a:r>
          </a:p>
          <a:p>
            <a:pPr lvl="1"/>
            <a:r>
              <a:rPr lang="fr-FR" sz="1600" dirty="0"/>
              <a:t>Collaboration en temps réel entre plusieurs utilisateurs.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200155EE-30A8-7C0A-E754-52DDA5C39FED}"/>
              </a:ext>
            </a:extLst>
          </p:cNvPr>
          <p:cNvSpPr txBox="1">
            <a:spLocks/>
          </p:cNvSpPr>
          <p:nvPr/>
        </p:nvSpPr>
        <p:spPr>
          <a:xfrm>
            <a:off x="4955570" y="1846173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Apport de l’IA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Génération automatique de questionnaires complets à partir d’un thème, d’un objectif ou d’un jeu de données existant.</a:t>
            </a:r>
          </a:p>
          <a:p>
            <a:pPr lvl="1"/>
            <a:r>
              <a:rPr lang="fr-FR" sz="1600" dirty="0"/>
              <a:t>Reformulation et amélioration linguistique des questions pour plus de clarté et d’équilibre cognitif.</a:t>
            </a:r>
          </a:p>
          <a:p>
            <a:pPr lvl="1"/>
            <a:r>
              <a:rPr lang="fr-FR" sz="1600" dirty="0"/>
              <a:t>Suggestions dynamiques de types de questions selon le contexte et la finalité de l’enquête.</a:t>
            </a:r>
          </a:p>
          <a:p>
            <a:pPr lvl="1"/>
            <a:r>
              <a:rPr lang="fr-FR" sz="1600" dirty="0"/>
              <a:t>Détection de biais et recommandations pour garantir la neutralité du questionnement.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8596FBB-99B4-9492-9CC5-78A125A67F49}"/>
              </a:ext>
            </a:extLst>
          </p:cNvPr>
          <p:cNvSpPr txBox="1">
            <a:spLocks/>
          </p:cNvSpPr>
          <p:nvPr/>
        </p:nvSpPr>
        <p:spPr>
          <a:xfrm>
            <a:off x="9721065" y="1846173"/>
            <a:ext cx="19195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/>
              <a:t>Etat d’avancement des développements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8B74C66-9156-4863-6B4E-233655811833}"/>
              </a:ext>
            </a:extLst>
          </p:cNvPr>
          <p:cNvSpPr/>
          <p:nvPr/>
        </p:nvSpPr>
        <p:spPr>
          <a:xfrm>
            <a:off x="9900008" y="3292867"/>
            <a:ext cx="1740611" cy="179797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85%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7E888-08EA-3598-32E1-93A0A27A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4174" y="6310312"/>
            <a:ext cx="2743200" cy="365125"/>
          </a:xfrm>
        </p:spPr>
        <p:txBody>
          <a:bodyPr/>
          <a:lstStyle/>
          <a:p>
            <a:fld id="{C388549F-ACE7-483F-A425-F60A4869C66C}" type="slidenum">
              <a:rPr lang="fr-FR" smtClean="0"/>
              <a:t>3</a:t>
            </a:fld>
            <a:endParaRPr lang="fr-FR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BB6BACB6-09F4-2D1B-B7BF-87A0232F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7055" y="6352996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391E56C-356F-435F-7761-5BCC357345A7}"/>
              </a:ext>
            </a:extLst>
          </p:cNvPr>
          <p:cNvCxnSpPr>
            <a:cxnSpLocks/>
          </p:cNvCxnSpPr>
          <p:nvPr/>
        </p:nvCxnSpPr>
        <p:spPr>
          <a:xfrm>
            <a:off x="4736389" y="1846173"/>
            <a:ext cx="0" cy="36094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F65473F-B3E2-7211-3A96-8D41ED4C2CB2}"/>
              </a:ext>
            </a:extLst>
          </p:cNvPr>
          <p:cNvCxnSpPr>
            <a:cxnSpLocks/>
          </p:cNvCxnSpPr>
          <p:nvPr/>
        </p:nvCxnSpPr>
        <p:spPr>
          <a:xfrm>
            <a:off x="9272499" y="1846173"/>
            <a:ext cx="0" cy="36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01F6-5AC8-DC46-8C98-49615D66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BB9D53-9B1F-B163-97D0-EBA14BB8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30" y="365125"/>
            <a:ext cx="11490789" cy="1325563"/>
          </a:xfrm>
        </p:spPr>
        <p:txBody>
          <a:bodyPr>
            <a:normAutofit/>
          </a:bodyPr>
          <a:lstStyle/>
          <a:p>
            <a:r>
              <a:rPr lang="fr-FR" sz="3600" dirty="0"/>
              <a:t>Module 2 : Diffusion simplifiée et intelligente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66383D-871C-43BB-7074-26DAED74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32" y="1846173"/>
            <a:ext cx="42886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Fonctionnalités principales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Importation de contacts (CSV, API, intégrations CRM).</a:t>
            </a:r>
          </a:p>
          <a:p>
            <a:pPr lvl="1"/>
            <a:r>
              <a:rPr lang="fr-FR" sz="1600" dirty="0"/>
              <a:t>Gestion manuelle ou automatique des listes de diffusion.</a:t>
            </a:r>
          </a:p>
          <a:p>
            <a:pPr lvl="1"/>
            <a:r>
              <a:rPr lang="fr-FR" sz="1600" dirty="0"/>
              <a:t>Envoi immédiat ou planifié, suivi des invitations et relances.</a:t>
            </a:r>
          </a:p>
          <a:p>
            <a:pPr lvl="1"/>
            <a:r>
              <a:rPr lang="fr-FR" sz="1600" dirty="0"/>
              <a:t>Interface de suivi du taux de participation en temps réel.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C8A7DCE-5D09-CBA3-6169-1C1A8F65C7F9}"/>
              </a:ext>
            </a:extLst>
          </p:cNvPr>
          <p:cNvSpPr txBox="1">
            <a:spLocks/>
          </p:cNvSpPr>
          <p:nvPr/>
        </p:nvSpPr>
        <p:spPr>
          <a:xfrm>
            <a:off x="4955570" y="1846173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Apport de l’IA :</a:t>
            </a:r>
          </a:p>
          <a:p>
            <a:pPr marL="0" indent="0">
              <a:buNone/>
            </a:pPr>
            <a:endParaRPr lang="fr-FR" sz="800" dirty="0"/>
          </a:p>
          <a:p>
            <a:pPr lvl="1">
              <a:lnSpc>
                <a:spcPct val="100000"/>
              </a:lnSpc>
            </a:pPr>
            <a:r>
              <a:rPr lang="fr-FR" sz="1600" dirty="0"/>
              <a:t>Optimisation du moment d’envoi selon les taux de réponse historiques et le comportement des répondants.</a:t>
            </a:r>
          </a:p>
          <a:p>
            <a:pPr lvl="1">
              <a:lnSpc>
                <a:spcPct val="100000"/>
              </a:lnSpc>
            </a:pPr>
            <a:r>
              <a:rPr lang="fr-FR" sz="1600" dirty="0"/>
              <a:t>Segmentation intelligente des audiences pour adapter le message d’invitation.</a:t>
            </a:r>
          </a:p>
          <a:p>
            <a:pPr lvl="1">
              <a:lnSpc>
                <a:spcPct val="100000"/>
              </a:lnSpc>
            </a:pPr>
            <a:r>
              <a:rPr lang="fr-FR" sz="1600" dirty="0"/>
              <a:t>Personnalisation automatique des emails pour augmenter l’engagement.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2EDF09F-94E9-DD27-C03E-C68E2AD30E50}"/>
              </a:ext>
            </a:extLst>
          </p:cNvPr>
          <p:cNvSpPr txBox="1">
            <a:spLocks/>
          </p:cNvSpPr>
          <p:nvPr/>
        </p:nvSpPr>
        <p:spPr>
          <a:xfrm>
            <a:off x="9721065" y="1846173"/>
            <a:ext cx="19195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/>
              <a:t>Etat d’avancement des développements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AEA344A-F83B-5667-48A1-E54737A3917F}"/>
              </a:ext>
            </a:extLst>
          </p:cNvPr>
          <p:cNvSpPr/>
          <p:nvPr/>
        </p:nvSpPr>
        <p:spPr>
          <a:xfrm>
            <a:off x="9900008" y="3292867"/>
            <a:ext cx="1740611" cy="179797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45%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C76F57-A5E1-900C-29CA-7C15FC07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5919" y="6310312"/>
            <a:ext cx="2743200" cy="365125"/>
          </a:xfrm>
        </p:spPr>
        <p:txBody>
          <a:bodyPr/>
          <a:lstStyle/>
          <a:p>
            <a:fld id="{C388549F-ACE7-483F-A425-F60A4869C66C}" type="slidenum">
              <a:rPr lang="fr-FR" smtClean="0"/>
              <a:t>4</a:t>
            </a:fld>
            <a:endParaRPr lang="fr-FR" dirty="0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AA0A421B-3567-328B-70C5-3DE254EF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9331" y="6352996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91A1900-A65B-EF46-35A9-5DDCD4E3F7CF}"/>
              </a:ext>
            </a:extLst>
          </p:cNvPr>
          <p:cNvCxnSpPr>
            <a:cxnSpLocks/>
          </p:cNvCxnSpPr>
          <p:nvPr/>
        </p:nvCxnSpPr>
        <p:spPr>
          <a:xfrm>
            <a:off x="4800784" y="1846173"/>
            <a:ext cx="0" cy="36094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FB2BD23-D2AA-EBF7-0461-8A96AAF7B72E}"/>
              </a:ext>
            </a:extLst>
          </p:cNvPr>
          <p:cNvCxnSpPr>
            <a:cxnSpLocks/>
          </p:cNvCxnSpPr>
          <p:nvPr/>
        </p:nvCxnSpPr>
        <p:spPr>
          <a:xfrm>
            <a:off x="9336894" y="1846173"/>
            <a:ext cx="0" cy="36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80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A3CF0-73C3-1476-D9EC-6B95EE4D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7460BC-1950-EB07-9062-0BCFCB27C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30" y="365125"/>
            <a:ext cx="11490789" cy="1325563"/>
          </a:xfrm>
        </p:spPr>
        <p:txBody>
          <a:bodyPr>
            <a:normAutofit/>
          </a:bodyPr>
          <a:lstStyle/>
          <a:p>
            <a:r>
              <a:rPr lang="fr-FR" sz="3600" dirty="0"/>
              <a:t>Module 3 :  Exploitation approfondie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1D582-FF58-5755-82EE-8CBAEA707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32" y="1846173"/>
            <a:ext cx="42886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Fonctionnalités principales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Visualisation des résultats en temps réel : graphiques, tableaux, cartes de chaleur, etc.</a:t>
            </a:r>
          </a:p>
          <a:p>
            <a:pPr lvl="1"/>
            <a:r>
              <a:rPr lang="fr-FR" sz="1600" dirty="0"/>
              <a:t>Exportation vers Excel, CSV, Power BI ou tout outil analytique externe.</a:t>
            </a:r>
          </a:p>
          <a:p>
            <a:pPr lvl="1"/>
            <a:r>
              <a:rPr lang="fr-FR" sz="1600" dirty="0"/>
              <a:t>Filtres dynamiques et croisements de variables pour une lecture fine des résultats.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189AC68-74ED-00B5-6317-9114406FD3DE}"/>
              </a:ext>
            </a:extLst>
          </p:cNvPr>
          <p:cNvSpPr txBox="1">
            <a:spLocks/>
          </p:cNvSpPr>
          <p:nvPr/>
        </p:nvSpPr>
        <p:spPr>
          <a:xfrm>
            <a:off x="4955570" y="1846173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Apport de l’IA :</a:t>
            </a:r>
          </a:p>
          <a:p>
            <a:pPr marL="0" indent="0">
              <a:buNone/>
            </a:pPr>
            <a:endParaRPr lang="fr-FR" sz="800" dirty="0"/>
          </a:p>
          <a:p>
            <a:pPr lvl="1">
              <a:lnSpc>
                <a:spcPct val="110000"/>
              </a:lnSpc>
            </a:pPr>
            <a:r>
              <a:rPr lang="fr-FR" sz="1700" dirty="0"/>
              <a:t>Analyse automatique des résultats : génération de commentaires, résumés et interprétations.</a:t>
            </a:r>
          </a:p>
          <a:p>
            <a:pPr lvl="1">
              <a:lnSpc>
                <a:spcPct val="110000"/>
              </a:lnSpc>
            </a:pPr>
            <a:r>
              <a:rPr lang="fr-FR" sz="1700" dirty="0"/>
              <a:t>Détection de tendances et corrélations dans les données.</a:t>
            </a:r>
          </a:p>
          <a:p>
            <a:pPr lvl="1">
              <a:lnSpc>
                <a:spcPct val="110000"/>
              </a:lnSpc>
            </a:pPr>
            <a:r>
              <a:rPr lang="fr-FR" sz="1700" dirty="0"/>
              <a:t>Classement automatique des réponses ouvertes par thèmes ou tonalité (analyse sémantique).</a:t>
            </a:r>
          </a:p>
          <a:p>
            <a:pPr lvl="1">
              <a:lnSpc>
                <a:spcPct val="110000"/>
              </a:lnSpc>
            </a:pPr>
            <a:r>
              <a:rPr lang="fr-FR" sz="1700" dirty="0"/>
              <a:t>Suggestions d’actions stratégiques fondées sur les insights détectés.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5A51A11-A07A-90B8-3BF2-C8BBB6A1F0AE}"/>
              </a:ext>
            </a:extLst>
          </p:cNvPr>
          <p:cNvSpPr txBox="1">
            <a:spLocks/>
          </p:cNvSpPr>
          <p:nvPr/>
        </p:nvSpPr>
        <p:spPr>
          <a:xfrm>
            <a:off x="9721065" y="1846173"/>
            <a:ext cx="19195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/>
              <a:t>Etat d’avancement des développements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51ABAA-5F3F-45A4-70E5-360C4409B76B}"/>
              </a:ext>
            </a:extLst>
          </p:cNvPr>
          <p:cNvSpPr/>
          <p:nvPr/>
        </p:nvSpPr>
        <p:spPr>
          <a:xfrm>
            <a:off x="9900008" y="3292867"/>
            <a:ext cx="1740611" cy="179797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75%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CC3C78-7F8A-6AE0-2D2F-5C0103C1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5919" y="6310312"/>
            <a:ext cx="2743200" cy="365125"/>
          </a:xfrm>
        </p:spPr>
        <p:txBody>
          <a:bodyPr/>
          <a:lstStyle/>
          <a:p>
            <a:fld id="{C388549F-ACE7-483F-A425-F60A4869C66C}" type="slidenum">
              <a:rPr lang="fr-FR" smtClean="0"/>
              <a:t>5</a:t>
            </a:fld>
            <a:endParaRPr lang="fr-FR" dirty="0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2DFC1A65-5A1D-D628-777E-F8615A14B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9331" y="6378699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0FAFBF0-8AD8-CA61-CCD1-3963AC067048}"/>
              </a:ext>
            </a:extLst>
          </p:cNvPr>
          <p:cNvCxnSpPr>
            <a:cxnSpLocks/>
          </p:cNvCxnSpPr>
          <p:nvPr/>
        </p:nvCxnSpPr>
        <p:spPr>
          <a:xfrm>
            <a:off x="4826542" y="1846173"/>
            <a:ext cx="0" cy="36094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B4FDF2D-3576-6E4E-FC6A-CEF9EB30ABC8}"/>
              </a:ext>
            </a:extLst>
          </p:cNvPr>
          <p:cNvCxnSpPr>
            <a:cxnSpLocks/>
          </p:cNvCxnSpPr>
          <p:nvPr/>
        </p:nvCxnSpPr>
        <p:spPr>
          <a:xfrm>
            <a:off x="9362652" y="1846173"/>
            <a:ext cx="0" cy="37175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14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E9A5-C82F-D54C-B876-0869D9D0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9B01B-B690-91BE-62EA-7E49F8BE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5" y="365125"/>
            <a:ext cx="12109802" cy="1325563"/>
          </a:xfrm>
        </p:spPr>
        <p:txBody>
          <a:bodyPr>
            <a:normAutofit/>
          </a:bodyPr>
          <a:lstStyle/>
          <a:p>
            <a:r>
              <a:rPr lang="fr-FR" sz="3600" dirty="0"/>
              <a:t>Module 4 : Mise en forme et génération automatique de rapports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010C60-7B1F-04AA-70E9-D67BB6B6F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32" y="1846173"/>
            <a:ext cx="42886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Fonctionnalités principales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Modèles de rapports personnalisables selon la charte graphique.</a:t>
            </a:r>
          </a:p>
          <a:p>
            <a:pPr lvl="1"/>
            <a:r>
              <a:rPr lang="fr-FR" sz="1600" dirty="0"/>
              <a:t>Tableaux, graphiques et infographies intégrés.</a:t>
            </a:r>
          </a:p>
          <a:p>
            <a:pPr lvl="1"/>
            <a:r>
              <a:rPr lang="fr-FR" sz="1600" dirty="0"/>
              <a:t>Exportation en PDF, DOCX, HTML, ou partage via tableau de bord interactif.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BA7CAF3-0661-0CB1-F65E-591F6047608B}"/>
              </a:ext>
            </a:extLst>
          </p:cNvPr>
          <p:cNvSpPr txBox="1">
            <a:spLocks/>
          </p:cNvSpPr>
          <p:nvPr/>
        </p:nvSpPr>
        <p:spPr>
          <a:xfrm>
            <a:off x="4955570" y="1846173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Apport de l’IA :</a:t>
            </a:r>
          </a:p>
          <a:p>
            <a:pPr marL="0" indent="0">
              <a:buNone/>
            </a:pPr>
            <a:endParaRPr lang="fr-FR" sz="800" dirty="0"/>
          </a:p>
          <a:p>
            <a:pPr lvl="1">
              <a:lnSpc>
                <a:spcPct val="110000"/>
              </a:lnSpc>
            </a:pPr>
            <a:r>
              <a:rPr lang="fr-FR" sz="1700" dirty="0"/>
              <a:t>Rédaction automatique de rapports d’étude (résumé exécutif, interprétation, recommandations).</a:t>
            </a:r>
          </a:p>
          <a:p>
            <a:pPr lvl="1">
              <a:lnSpc>
                <a:spcPct val="110000"/>
              </a:lnSpc>
            </a:pPr>
            <a:r>
              <a:rPr lang="fr-FR" sz="1700" dirty="0"/>
              <a:t>Choix automatique des visualisations les plus pertinentes selon le type de données.</a:t>
            </a:r>
          </a:p>
          <a:p>
            <a:pPr lvl="1">
              <a:lnSpc>
                <a:spcPct val="110000"/>
              </a:lnSpc>
            </a:pPr>
            <a:r>
              <a:rPr lang="fr-FR" sz="1700" dirty="0"/>
              <a:t>Synthèse multilingue pour diffuser vos résultats à l’international.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A680BF16-7D88-119F-04BE-89616BC8921E}"/>
              </a:ext>
            </a:extLst>
          </p:cNvPr>
          <p:cNvSpPr txBox="1">
            <a:spLocks/>
          </p:cNvSpPr>
          <p:nvPr/>
        </p:nvSpPr>
        <p:spPr>
          <a:xfrm>
            <a:off x="9721065" y="1846173"/>
            <a:ext cx="19195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/>
              <a:t>Etat d’avancement des développements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D45D61F-521A-9350-2F66-DB3580B39F32}"/>
              </a:ext>
            </a:extLst>
          </p:cNvPr>
          <p:cNvSpPr/>
          <p:nvPr/>
        </p:nvSpPr>
        <p:spPr>
          <a:xfrm>
            <a:off x="9900008" y="3292867"/>
            <a:ext cx="1740611" cy="179797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55%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66EAF2-9240-0F22-5780-BD627611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5919" y="6352996"/>
            <a:ext cx="2743200" cy="365125"/>
          </a:xfrm>
        </p:spPr>
        <p:txBody>
          <a:bodyPr/>
          <a:lstStyle/>
          <a:p>
            <a:fld id="{C388549F-ACE7-483F-A425-F60A4869C66C}" type="slidenum">
              <a:rPr lang="fr-FR" smtClean="0"/>
              <a:t>6</a:t>
            </a:fld>
            <a:endParaRPr lang="fr-FR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4B756C52-7F38-133D-E147-C1382D60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9331" y="6352996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FF42D5D-9A3A-3E0B-FB65-8FFDC103FEEC}"/>
              </a:ext>
            </a:extLst>
          </p:cNvPr>
          <p:cNvCxnSpPr>
            <a:cxnSpLocks/>
          </p:cNvCxnSpPr>
          <p:nvPr/>
        </p:nvCxnSpPr>
        <p:spPr>
          <a:xfrm>
            <a:off x="4813663" y="1846173"/>
            <a:ext cx="0" cy="36094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23F8B7C-BFB4-7ACA-0BA2-7426F5575C43}"/>
              </a:ext>
            </a:extLst>
          </p:cNvPr>
          <p:cNvCxnSpPr>
            <a:cxnSpLocks/>
          </p:cNvCxnSpPr>
          <p:nvPr/>
        </p:nvCxnSpPr>
        <p:spPr>
          <a:xfrm>
            <a:off x="9349773" y="1846173"/>
            <a:ext cx="0" cy="36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62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FBC5-551B-4099-40E3-A270B6CC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5A43E-7E84-118F-4ED8-370B2FD8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30" y="365125"/>
            <a:ext cx="11490789" cy="1325563"/>
          </a:xfrm>
        </p:spPr>
        <p:txBody>
          <a:bodyPr>
            <a:normAutofit/>
          </a:bodyPr>
          <a:lstStyle/>
          <a:p>
            <a:r>
              <a:rPr lang="fr-FR" sz="3600" dirty="0"/>
              <a:t>Module 5 : Diffusion et partage des rapports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78B70-5591-6E58-DAE9-9E91C424D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32" y="1846173"/>
            <a:ext cx="4288604" cy="4351338"/>
          </a:xfrm>
        </p:spPr>
        <p:txBody>
          <a:bodyPr/>
          <a:lstStyle/>
          <a:p>
            <a:pPr marL="0" indent="0">
              <a:buNone/>
            </a:pPr>
            <a:r>
              <a:rPr lang="fr-FR" sz="1800" dirty="0"/>
              <a:t>Fonctionnalités principales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Publication sur un espace sécurisé avec gestion fine des droits d’accès.</a:t>
            </a:r>
          </a:p>
          <a:p>
            <a:pPr lvl="1"/>
            <a:r>
              <a:rPr lang="fr-FR" sz="1600" dirty="0"/>
              <a:t>Création de tableaux de bord dynamiques.</a:t>
            </a:r>
          </a:p>
          <a:p>
            <a:pPr lvl="1"/>
            <a:r>
              <a:rPr lang="fr-FR" sz="1600" dirty="0"/>
              <a:t>Notification automatique des parties prenantes.</a:t>
            </a:r>
          </a:p>
          <a:p>
            <a:pPr lvl="1"/>
            <a:endParaRPr lang="fr-FR" sz="18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9B48FBE-808C-8039-7283-B52DC18ED93E}"/>
              </a:ext>
            </a:extLst>
          </p:cNvPr>
          <p:cNvSpPr txBox="1">
            <a:spLocks/>
          </p:cNvSpPr>
          <p:nvPr/>
        </p:nvSpPr>
        <p:spPr>
          <a:xfrm>
            <a:off x="4955570" y="1846173"/>
            <a:ext cx="4288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Apport de l’IA :</a:t>
            </a:r>
          </a:p>
          <a:p>
            <a:pPr marL="0" indent="0">
              <a:buNone/>
            </a:pPr>
            <a:endParaRPr lang="fr-FR" sz="800" dirty="0"/>
          </a:p>
          <a:p>
            <a:pPr lvl="1"/>
            <a:r>
              <a:rPr lang="fr-FR" sz="1600" dirty="0"/>
              <a:t>Sélection contextuelle des insights clés pour chaque profil de lecteur (direction, marketing, RH, etc.).</a:t>
            </a:r>
          </a:p>
          <a:p>
            <a:pPr lvl="1"/>
            <a:r>
              <a:rPr lang="fr-FR" sz="1600" dirty="0"/>
              <a:t>Résumé automatique des résultats sous différents formats (texte, slides, </a:t>
            </a:r>
            <a:r>
              <a:rPr lang="fr-FR" sz="1600" dirty="0" err="1"/>
              <a:t>visual</a:t>
            </a:r>
            <a:r>
              <a:rPr lang="fr-FR" sz="1600" dirty="0"/>
              <a:t> story).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8504920-5206-1BD2-EFEF-457F0C2CD60D}"/>
              </a:ext>
            </a:extLst>
          </p:cNvPr>
          <p:cNvSpPr txBox="1">
            <a:spLocks/>
          </p:cNvSpPr>
          <p:nvPr/>
        </p:nvSpPr>
        <p:spPr>
          <a:xfrm>
            <a:off x="9721065" y="1846173"/>
            <a:ext cx="19195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/>
              <a:t>Etat d’avancement des développements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fr-FR" sz="18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A6F2923-66F9-3A99-EAF6-A7E84C997D06}"/>
              </a:ext>
            </a:extLst>
          </p:cNvPr>
          <p:cNvSpPr/>
          <p:nvPr/>
        </p:nvSpPr>
        <p:spPr>
          <a:xfrm>
            <a:off x="9900008" y="3292867"/>
            <a:ext cx="1740611" cy="179797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35%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524844-8506-D151-B216-FC269B84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5919" y="6354975"/>
            <a:ext cx="2743200" cy="365125"/>
          </a:xfrm>
        </p:spPr>
        <p:txBody>
          <a:bodyPr/>
          <a:lstStyle/>
          <a:p>
            <a:fld id="{C388549F-ACE7-483F-A425-F60A4869C66C}" type="slidenum">
              <a:rPr lang="fr-FR" smtClean="0"/>
              <a:t>7</a:t>
            </a:fld>
            <a:endParaRPr lang="fr-FR" dirty="0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8C465F23-AAC6-7B6F-4C94-46757A92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9331" y="6352996"/>
            <a:ext cx="4653337" cy="365125"/>
          </a:xfrm>
        </p:spPr>
        <p:txBody>
          <a:bodyPr/>
          <a:lstStyle/>
          <a:p>
            <a:r>
              <a:rPr lang="fr-FR" dirty="0"/>
              <a:t>Nabil BELCAID - nabil.belcaid@quaeroquesto.com - 06 21 712 712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28B8654-A827-28F7-C07D-EF7295AD5749}"/>
              </a:ext>
            </a:extLst>
          </p:cNvPr>
          <p:cNvCxnSpPr>
            <a:cxnSpLocks/>
          </p:cNvCxnSpPr>
          <p:nvPr/>
        </p:nvCxnSpPr>
        <p:spPr>
          <a:xfrm>
            <a:off x="4741021" y="1846172"/>
            <a:ext cx="0" cy="3276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8EF4FDD-653B-6618-5D59-FDB77CF51B23}"/>
              </a:ext>
            </a:extLst>
          </p:cNvPr>
          <p:cNvCxnSpPr>
            <a:cxnSpLocks/>
          </p:cNvCxnSpPr>
          <p:nvPr/>
        </p:nvCxnSpPr>
        <p:spPr>
          <a:xfrm>
            <a:off x="9272499" y="1846172"/>
            <a:ext cx="0" cy="3276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249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790</Words>
  <Application>Microsoft Office PowerPoint</Application>
  <PresentationFormat>Grand écran</PresentationFormat>
  <Paragraphs>100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Vue d’ensemble</vt:lpstr>
      <vt:lpstr>Module 1 : Création de questionnaires intuitive et assistée par IA</vt:lpstr>
      <vt:lpstr>Module 2 : Diffusion simplifiée et intelligente</vt:lpstr>
      <vt:lpstr>Module 3 :  Exploitation approfondie des données</vt:lpstr>
      <vt:lpstr>Module 4 : Mise en forme et génération automatique de rapports </vt:lpstr>
      <vt:lpstr>Module 5 : Diffusion et partage des rapports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Nabil Belcaid</dc:creator>
  <cp:lastModifiedBy>Nabil Belcaid</cp:lastModifiedBy>
  <cp:revision>11</cp:revision>
  <dcterms:created xsi:type="dcterms:W3CDTF">2025-10-08T07:35:56Z</dcterms:created>
  <dcterms:modified xsi:type="dcterms:W3CDTF">2026-01-02T13:25:00Z</dcterms:modified>
</cp:coreProperties>
</file>